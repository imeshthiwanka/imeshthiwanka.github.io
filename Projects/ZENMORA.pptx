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5"/>
  </p:notes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17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8" r:id="rId23"/>
    <p:sldId id="31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96" d="100"/>
          <a:sy n="96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6E0A6-7546-4C5B-A13E-BEAA75A709B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4D974-ABC4-455C-9928-45A4F10AC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8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4D974-ABC4-455C-9928-45A4F10AC3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4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4D974-ABC4-455C-9928-45A4F10AC3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65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669AF7-7BEB-44E4-9852-375E34362B5B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28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15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17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33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6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95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3/27/2026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0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330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618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5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frobot.com/" TargetMode="External"/><Relationship Id="rId2" Type="http://schemas.openxmlformats.org/officeDocument/2006/relationships/hyperlink" Target="https://www.raspberrypi.or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1135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134" y="2491262"/>
            <a:ext cx="3838166" cy="1589185"/>
          </a:xfrm>
        </p:spPr>
        <p:txBody>
          <a:bodyPr anchor="b">
            <a:normAutofit fontScale="90000"/>
          </a:bodyPr>
          <a:lstStyle/>
          <a:p>
            <a:r>
              <a:rPr lang="en-US" sz="44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dirty="0">
                <a:solidFill>
                  <a:schemeClr val="bg1">
                    <a:lumMod val="75000"/>
                    <a:lumOff val="25000"/>
                  </a:schemeClr>
                </a:solidFill>
              </a:rPr>
              <a:t>ZENMORA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134" y="3834941"/>
            <a:ext cx="2493203" cy="39576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>
                    <a:lumMod val="75000"/>
                    <a:lumOff val="25000"/>
                  </a:schemeClr>
                </a:solidFill>
                <a:latin typeface="Century" panose="02040604050505020304" pitchFamily="18" charset="0"/>
              </a:rPr>
              <a:t>Calm mind happy life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Group Members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E7DF691-6531-9503-6F1F-CB5D2AB56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367611"/>
              </p:ext>
            </p:extLst>
          </p:nvPr>
        </p:nvGraphicFramePr>
        <p:xfrm>
          <a:off x="1097280" y="2099735"/>
          <a:ext cx="10058400" cy="2911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29160538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825959866"/>
                    </a:ext>
                  </a:extLst>
                </a:gridCol>
              </a:tblGrid>
              <a:tr h="447960">
                <a:tc>
                  <a:txBody>
                    <a:bodyPr/>
                    <a:lstStyle/>
                    <a:p>
                      <a:r>
                        <a:rPr lang="en-US" dirty="0"/>
                        <a:t>Registration Number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7407"/>
                  </a:ext>
                </a:extLst>
              </a:tr>
              <a:tr h="517238">
                <a:tc>
                  <a:txBody>
                    <a:bodyPr/>
                    <a:lstStyle/>
                    <a:p>
                      <a:r>
                        <a:rPr lang="en-US" dirty="0"/>
                        <a:t>254114J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K.L. Vihara Dewmini </a:t>
                      </a:r>
                      <a:r>
                        <a:rPr lang="en-US" dirty="0" err="1"/>
                        <a:t>Kodithuwakku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67346"/>
                  </a:ext>
                </a:extLst>
              </a:tr>
              <a:tr h="541867">
                <a:tc>
                  <a:txBody>
                    <a:bodyPr/>
                    <a:lstStyle/>
                    <a:p>
                      <a:r>
                        <a:rPr lang="en-US" dirty="0"/>
                        <a:t>254223R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R.P. </a:t>
                      </a:r>
                      <a:r>
                        <a:rPr lang="en-US" dirty="0" err="1"/>
                        <a:t>Kavindu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Lakshan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Thilakarathna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49383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254096D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Uthpala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Dasunpriya</a:t>
                      </a:r>
                      <a:r>
                        <a:rPr lang="en-US" dirty="0"/>
                        <a:t> Jayasinghe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36586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r>
                        <a:rPr lang="en-US" dirty="0"/>
                        <a:t>255109G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K.W. </a:t>
                      </a:r>
                      <a:r>
                        <a:rPr lang="en-US" dirty="0" err="1"/>
                        <a:t>Imesh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Thiwanka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278753"/>
                  </a:ext>
                </a:extLst>
              </a:tr>
              <a:tr h="447960">
                <a:tc>
                  <a:txBody>
                    <a:bodyPr/>
                    <a:lstStyle/>
                    <a:p>
                      <a:r>
                        <a:rPr lang="en-US" dirty="0"/>
                        <a:t>254243D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M.Yanushan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3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3BFD-777E-EEC3-30F3-472BACF3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6629"/>
            <a:ext cx="10058400" cy="127126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B57C1F1-CC1B-B797-586A-1A859E042C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668487"/>
            <a:ext cx="110947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Stress, anxiety, and sleep disorders are common real-world problems.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 stress or irregular sleep can affect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health, focus, and overall well-being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device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detects stress and helps the user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relax and sleep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ZENMORA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heart-rate-based adaptive relaxation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380C5-EA66-8243-4C2B-38337036B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280" y="4235733"/>
            <a:ext cx="1109472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Monitors physiological signals (heart rate, skin response, movement)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Plays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calming music / sounds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reduce stress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Automated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fan and light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control         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Helps users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fall asleep naturally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Automatically stops music when the body reaches a calm state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47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37DF-E88D-6732-C7EF-4D0E5217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9081-D51C-42F5-A120-FA118B6F0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People often </a:t>
            </a:r>
            <a:r>
              <a:rPr lang="en-US" sz="2000" b="1" dirty="0">
                <a:solidFill>
                  <a:schemeClr val="tx1"/>
                </a:solidFill>
              </a:rPr>
              <a:t>cannot detect stress in themselves</a:t>
            </a:r>
            <a:r>
              <a:rPr lang="en-US" sz="2000" dirty="0">
                <a:solidFill>
                  <a:schemeClr val="tx1"/>
                </a:solidFill>
              </a:rPr>
              <a:t> until it becomes severe.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 Some people have no stress but have </a:t>
            </a:r>
            <a:r>
              <a:rPr lang="en-US" sz="2000" b="1" dirty="0">
                <a:solidFill>
                  <a:schemeClr val="tx1"/>
                </a:solidFill>
              </a:rPr>
              <a:t>sleeping disorders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 Many rely on </a:t>
            </a:r>
            <a:r>
              <a:rPr lang="en-US" sz="2000" b="1" dirty="0">
                <a:solidFill>
                  <a:schemeClr val="tx1"/>
                </a:solidFill>
              </a:rPr>
              <a:t>manual methods</a:t>
            </a:r>
            <a:r>
              <a:rPr lang="en-US" sz="2000" dirty="0">
                <a:solidFill>
                  <a:schemeClr val="tx1"/>
                </a:solidFill>
              </a:rPr>
              <a:t>: breathing exercises, apps, music.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 Lack of a </a:t>
            </a:r>
            <a:r>
              <a:rPr lang="en-US" sz="2000" b="1" dirty="0">
                <a:solidFill>
                  <a:schemeClr val="tx1"/>
                </a:solidFill>
              </a:rPr>
              <a:t>real-time, automatic system</a:t>
            </a:r>
            <a:r>
              <a:rPr lang="en-US" sz="2000" dirty="0">
                <a:solidFill>
                  <a:schemeClr val="tx1"/>
                </a:solidFill>
              </a:rPr>
              <a:t> that reacts based on actual body signals.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 Poor sleep quality due to undetected stress.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5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B50C-AC73-87AA-2129-61B77834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F70C25-2AA9-7F4C-790B-783CFE5EE5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37360"/>
            <a:ext cx="1030732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human stress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physiological signals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Skin response (GSR)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Heart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help user relax through: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Calming music / sound </a:t>
            </a:r>
          </a:p>
          <a:p>
            <a:pPr lvl="4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Mobile app guidance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Smart auto-off feature when user is calm.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fan based on temperature.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light based on brightness.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LED Panel for show the stress levels. (Red for high stress, Green for calmness.)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72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0A1A-0BAE-75AF-1B58-5C36EA39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360807"/>
            <a:ext cx="10058400" cy="1609344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DDCD-8ED0-B4A0-0BA1-42EEB0B22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78508"/>
            <a:ext cx="10058400" cy="405079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Sensor Holding Wristband Design</a:t>
            </a:r>
          </a:p>
          <a:p>
            <a:endParaRPr lang="en-US" sz="2000" b="1" u="sng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7B43C3-B802-026A-A949-B8E64E303E3D}"/>
              </a:ext>
            </a:extLst>
          </p:cNvPr>
          <p:cNvSpPr/>
          <p:nvPr/>
        </p:nvSpPr>
        <p:spPr>
          <a:xfrm>
            <a:off x="1097280" y="2354813"/>
            <a:ext cx="7116011" cy="4131712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8470A-19E0-9BCA-5F69-4EA803DA574D}"/>
              </a:ext>
            </a:extLst>
          </p:cNvPr>
          <p:cNvSpPr txBox="1"/>
          <p:nvPr/>
        </p:nvSpPr>
        <p:spPr>
          <a:xfrm>
            <a:off x="1511968" y="2475159"/>
            <a:ext cx="64649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Sensors integrated in a </a:t>
            </a:r>
            <a:r>
              <a:rPr lang="en-US" b="1" dirty="0"/>
              <a:t>comfortable wristband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Wristband placement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Pulse sensor (MAX30102)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GSR electrodes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Optional: MPU6050 motion sensor 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Wristband connected to </a:t>
            </a:r>
            <a:r>
              <a:rPr lang="en-US" b="1" dirty="0"/>
              <a:t>RASPBERRY PI</a:t>
            </a:r>
            <a:r>
              <a:rPr lang="en-US" dirty="0"/>
              <a:t> for data processing.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supply: USB for demo, battery for portable use.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 padding ensures </a:t>
            </a:r>
            <a:r>
              <a:rPr lang="en-US" b="1" dirty="0"/>
              <a:t>comfortable and continuous monitoring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1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D5C8-9161-3E96-61D3-258A6C39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CAE7F7-95D6-8E86-EDE9-8B31B5C9A52C}"/>
              </a:ext>
            </a:extLst>
          </p:cNvPr>
          <p:cNvSpPr/>
          <p:nvPr/>
        </p:nvSpPr>
        <p:spPr>
          <a:xfrm>
            <a:off x="1244600" y="2523550"/>
            <a:ext cx="8077200" cy="377734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28C76-A521-0469-D452-E9EF16CD7F49}"/>
              </a:ext>
            </a:extLst>
          </p:cNvPr>
          <p:cNvSpPr txBox="1"/>
          <p:nvPr/>
        </p:nvSpPr>
        <p:spPr>
          <a:xfrm>
            <a:off x="1244600" y="2034540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Environmental Sensing &amp; Automation system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8F6D6B7-8839-506C-982E-EF9FDD839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168" y="3019915"/>
            <a:ext cx="770281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Monitors </a:t>
            </a:r>
            <a:r>
              <a:rPr lang="en-US" altLang="en-US" b="1" dirty="0">
                <a:latin typeface="Arial" panose="020B0604020202020204" pitchFamily="34" charset="0"/>
              </a:rPr>
              <a:t>body temperature and environment.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Automatically turns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 ON/OFF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temperature thresholds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Uses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 sensor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detect ambient brightn</a:t>
            </a:r>
            <a:r>
              <a:rPr lang="en-US" altLang="en-US" dirty="0">
                <a:latin typeface="Arial" panose="020B0604020202020204" pitchFamily="34" charset="0"/>
              </a:rPr>
              <a:t>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en-US" dirty="0">
                <a:latin typeface="Arial" panose="020B0604020202020204" pitchFamily="34" charset="0"/>
              </a:rPr>
              <a:t>Automatically controls </a:t>
            </a:r>
            <a:r>
              <a:rPr lang="en-US" altLang="en-US" b="1" dirty="0">
                <a:latin typeface="Arial" panose="020B0604020202020204" pitchFamily="34" charset="0"/>
              </a:rPr>
              <a:t>lighting based on light conditions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Controlled by a </a:t>
            </a:r>
            <a:r>
              <a:rPr lang="en-US" altLang="en-US" b="1" dirty="0">
                <a:latin typeface="Arial" panose="020B0604020202020204" pitchFamily="34" charset="0"/>
              </a:rPr>
              <a:t>Raspberry Pi for real-time processing.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1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7" name="Picture 16" descr="A diagram of a computer system">
            <a:extLst>
              <a:ext uri="{FF2B5EF4-FFF2-40B4-BE49-F238E27FC236}">
                <a16:creationId xmlns:a16="http://schemas.microsoft.com/office/drawing/2014/main" id="{73466694-DCEA-2BA2-B520-8D994ADEC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275" y="61032"/>
            <a:ext cx="4617580" cy="673593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FC48BEE-C30B-40EA-07B6-A9AE1524438B}"/>
              </a:ext>
            </a:extLst>
          </p:cNvPr>
          <p:cNvSpPr txBox="1">
            <a:spLocks/>
          </p:cNvSpPr>
          <p:nvPr/>
        </p:nvSpPr>
        <p:spPr>
          <a:xfrm>
            <a:off x="920834" y="1273647"/>
            <a:ext cx="4972511" cy="31067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7200" u="sng" dirty="0">
                <a:solidFill>
                  <a:schemeClr val="bg1"/>
                </a:solidFill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2464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62BA-C86A-C53E-1A36-3CEDE941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69955"/>
            <a:ext cx="10058400" cy="1609344"/>
          </a:xfrm>
        </p:spPr>
        <p:txBody>
          <a:bodyPr anchor="b">
            <a:normAutofit/>
          </a:bodyPr>
          <a:lstStyle/>
          <a:p>
            <a:r>
              <a:rPr lang="en-US" dirty="0"/>
              <a:t>System Overview</a:t>
            </a:r>
          </a:p>
        </p:txBody>
      </p:sp>
      <p:pic>
        <p:nvPicPr>
          <p:cNvPr id="5" name="Content Placeholder 4" descr="A hand with a watch and a wristband&#10;&#10;Description automatically generated">
            <a:extLst>
              <a:ext uri="{FF2B5EF4-FFF2-40B4-BE49-F238E27FC236}">
                <a16:creationId xmlns:a16="http://schemas.microsoft.com/office/drawing/2014/main" id="{21B6A36F-B333-DC66-64C6-A0C95B6A5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700" y="2120900"/>
            <a:ext cx="6076950" cy="4051300"/>
          </a:xfrm>
          <a:noFill/>
        </p:spPr>
      </p:pic>
      <p:pic>
        <p:nvPicPr>
          <p:cNvPr id="7" name="Picture 6" descr="A hand with a watch and a fan">
            <a:extLst>
              <a:ext uri="{FF2B5EF4-FFF2-40B4-BE49-F238E27FC236}">
                <a16:creationId xmlns:a16="http://schemas.microsoft.com/office/drawing/2014/main" id="{1130CBFF-84A1-D016-2FE6-0A4A136A0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475" y="2036287"/>
            <a:ext cx="6623050" cy="4415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921E8E-1FD6-C2F9-21B6-9EFCF45F8E79}"/>
              </a:ext>
            </a:extLst>
          </p:cNvPr>
          <p:cNvSpPr txBox="1"/>
          <p:nvPr/>
        </p:nvSpPr>
        <p:spPr>
          <a:xfrm>
            <a:off x="6202018" y="2193656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11A79-B535-AB9C-C04F-E67C5C60AE27}"/>
              </a:ext>
            </a:extLst>
          </p:cNvPr>
          <p:cNvSpPr txBox="1"/>
          <p:nvPr/>
        </p:nvSpPr>
        <p:spPr>
          <a:xfrm>
            <a:off x="8700331" y="3823852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Table Lamp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A3168-9C77-3FC9-2A78-47C2E8C4451F}"/>
              </a:ext>
            </a:extLst>
          </p:cNvPr>
          <p:cNvSpPr txBox="1"/>
          <p:nvPr/>
        </p:nvSpPr>
        <p:spPr>
          <a:xfrm>
            <a:off x="7516907" y="513389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LED Indicator</a:t>
            </a:r>
          </a:p>
        </p:txBody>
      </p:sp>
    </p:spTree>
    <p:extLst>
      <p:ext uri="{BB962C8B-B14F-4D97-AF65-F5344CB8AC3E}">
        <p14:creationId xmlns:p14="http://schemas.microsoft.com/office/powerpoint/2010/main" val="243200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728B67-BB7E-7E90-8126-9EFDEDDD66E7}"/>
              </a:ext>
            </a:extLst>
          </p:cNvPr>
          <p:cNvSpPr/>
          <p:nvPr/>
        </p:nvSpPr>
        <p:spPr>
          <a:xfrm>
            <a:off x="198855" y="1195241"/>
            <a:ext cx="5801895" cy="507599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83DDD-B31D-0D6C-5979-079C9F9ADAA6}"/>
              </a:ext>
            </a:extLst>
          </p:cNvPr>
          <p:cNvSpPr txBox="1"/>
          <p:nvPr/>
        </p:nvSpPr>
        <p:spPr>
          <a:xfrm>
            <a:off x="494184" y="1596992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Raspberry Pi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MAX30102 Pulse Sensor(Heart Rate)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Temperature Sensor (DHT22/DS18B20)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Light Sensor (LDR / BH1750)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Relay Module / MOSFET 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GSR Sensor (Skin Response)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LEDs (Red, Yellow, Green)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Mini Speaker / </a:t>
            </a:r>
            <a:r>
              <a:rPr lang="en-US" sz="2200" dirty="0" err="1"/>
              <a:t>DFPlayer</a:t>
            </a:r>
            <a:r>
              <a:rPr lang="en-US" sz="2200" dirty="0"/>
              <a:t> Mini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Wristband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Battery / USB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Fan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FF671-042C-5AFF-010A-9C3984728A0A}"/>
              </a:ext>
            </a:extLst>
          </p:cNvPr>
          <p:cNvSpPr txBox="1"/>
          <p:nvPr/>
        </p:nvSpPr>
        <p:spPr>
          <a:xfrm>
            <a:off x="695156" y="224589"/>
            <a:ext cx="7610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/>
              <a:t>Hardware and Software Components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0B4A90-5B3F-EC34-E361-661089F8281D}"/>
              </a:ext>
            </a:extLst>
          </p:cNvPr>
          <p:cNvSpPr/>
          <p:nvPr/>
        </p:nvSpPr>
        <p:spPr>
          <a:xfrm>
            <a:off x="6177519" y="1208989"/>
            <a:ext cx="5801895" cy="50759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87A4D-EF33-AFF4-E1D2-9A429BFF8423}"/>
              </a:ext>
            </a:extLst>
          </p:cNvPr>
          <p:cNvSpPr txBox="1"/>
          <p:nvPr/>
        </p:nvSpPr>
        <p:spPr>
          <a:xfrm>
            <a:off x="6424500" y="1391234"/>
            <a:ext cx="56120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                      Software:</a:t>
            </a:r>
          </a:p>
          <a:p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Arduino 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GPIO Libraries (</a:t>
            </a:r>
            <a:r>
              <a:rPr lang="en-US" sz="2200" dirty="0" err="1"/>
              <a:t>RPi.GPIO</a:t>
            </a:r>
            <a:r>
              <a:rPr lang="en-US" sz="2200" dirty="0"/>
              <a:t>/GPIO Zero)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Sensor Libraries (MAX30102,GSR,</a:t>
            </a:r>
          </a:p>
          <a:p>
            <a:r>
              <a:rPr lang="en-US" sz="2200" dirty="0"/>
              <a:t>   </a:t>
            </a:r>
            <a:r>
              <a:rPr lang="en-US" sz="2200" dirty="0" err="1"/>
              <a:t>DFPlayer</a:t>
            </a:r>
            <a:r>
              <a:rPr lang="en-US" sz="2200" dirty="0"/>
              <a:t> Mini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Optional: Mobile app platform (MIT </a:t>
            </a:r>
          </a:p>
          <a:p>
            <a:r>
              <a:rPr lang="en-US" sz="2200" dirty="0"/>
              <a:t>  App Inventor / Android Studio)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Control Logic (Threshold + Hysteresis)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Audio Control Libraries (</a:t>
            </a:r>
            <a:r>
              <a:rPr lang="en-US" sz="2200" dirty="0" err="1"/>
              <a:t>DFPlayer</a:t>
            </a:r>
            <a:r>
              <a:rPr lang="en-US" sz="2200" dirty="0"/>
              <a:t> Mini)</a:t>
            </a:r>
          </a:p>
          <a:p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34BE6-8714-E7EC-364D-6D73CBE8DB91}"/>
              </a:ext>
            </a:extLst>
          </p:cNvPr>
          <p:cNvSpPr txBox="1"/>
          <p:nvPr/>
        </p:nvSpPr>
        <p:spPr>
          <a:xfrm>
            <a:off x="2076631" y="1260918"/>
            <a:ext cx="22858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Hardware:</a:t>
            </a:r>
          </a:p>
        </p:txBody>
      </p:sp>
    </p:spTree>
    <p:extLst>
      <p:ext uri="{BB962C8B-B14F-4D97-AF65-F5344CB8AC3E}">
        <p14:creationId xmlns:p14="http://schemas.microsoft.com/office/powerpoint/2010/main" val="3480838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F222-8F0E-055C-12C1-B932A57D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72626-A044-F134-37E3-1562A87F4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4360545" cy="3760891"/>
          </a:xfrm>
        </p:spPr>
        <p:txBody>
          <a:bodyPr>
            <a:normAutofit/>
          </a:bodyPr>
          <a:lstStyle/>
          <a:p>
            <a:r>
              <a:rPr lang="en-US" b="1" dirty="0"/>
              <a:t>Member 1 – Project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Planning and coordination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integration</a:t>
            </a:r>
          </a:p>
          <a:p>
            <a:r>
              <a:rPr lang="en-US" b="1" dirty="0"/>
              <a:t>Member 2 – Stress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MAX30102 and GSR sensors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Stress analysis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6AF343-C4CF-C5CD-D2A1-0EE269F37A23}"/>
              </a:ext>
            </a:extLst>
          </p:cNvPr>
          <p:cNvSpPr txBox="1">
            <a:spLocks/>
          </p:cNvSpPr>
          <p:nvPr/>
        </p:nvSpPr>
        <p:spPr>
          <a:xfrm>
            <a:off x="6096000" y="2108200"/>
            <a:ext cx="499872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Member 3 – Environmental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DS18B20 temperature sensor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 sensor </a:t>
            </a:r>
          </a:p>
          <a:p>
            <a:r>
              <a:rPr lang="en-US" sz="2000" b="1" dirty="0"/>
              <a:t>Member 4 – Control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Fan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LED indicators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59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F8CE-C72A-5D22-BB57-272CBE787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23" y="1226058"/>
            <a:ext cx="10058400" cy="4050792"/>
          </a:xfrm>
        </p:spPr>
        <p:txBody>
          <a:bodyPr/>
          <a:lstStyle/>
          <a:p>
            <a:r>
              <a:rPr lang="en-US" b="1" dirty="0"/>
              <a:t>Member 5 – Software &amp; Audio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programming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Audio system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9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3505-F6AE-DFD7-F82E-BEE095E4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113B-3371-6C1E-B291-4F7E6B7D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139440" cy="3760891"/>
          </a:xfrm>
        </p:spPr>
        <p:txBody>
          <a:bodyPr>
            <a:noAutofit/>
          </a:bodyPr>
          <a:lstStyle/>
          <a:p>
            <a:r>
              <a:rPr lang="en-US" sz="1500" b="1" dirty="0"/>
              <a:t>Phase 1 (Month 1–2):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Problem identification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Requirement analysis </a:t>
            </a:r>
          </a:p>
          <a:p>
            <a:r>
              <a:rPr lang="en-US" sz="1500" b="1" dirty="0"/>
              <a:t>Phase 2 (Month 3–4):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Block diagram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Circuit design </a:t>
            </a:r>
          </a:p>
          <a:p>
            <a:r>
              <a:rPr lang="en-US" sz="1500" b="1" dirty="0"/>
              <a:t>Phase 3 (Month 5–7):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Sensor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Control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Software coding</a:t>
            </a:r>
          </a:p>
          <a:p>
            <a:endParaRPr lang="en-US" sz="15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FB5CEC-1C4C-42D5-6067-C978189ECE23}"/>
              </a:ext>
            </a:extLst>
          </p:cNvPr>
          <p:cNvSpPr txBox="1">
            <a:spLocks/>
          </p:cNvSpPr>
          <p:nvPr/>
        </p:nvSpPr>
        <p:spPr>
          <a:xfrm>
            <a:off x="7117080" y="2108201"/>
            <a:ext cx="3139440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Phase 4 (Month 8–9):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testing </a:t>
            </a:r>
          </a:p>
          <a:p>
            <a:r>
              <a:rPr lang="en-US" b="1" dirty="0"/>
              <a:t>Phase 5 (Month 10–11):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 fixing </a:t>
            </a:r>
          </a:p>
          <a:p>
            <a:r>
              <a:rPr lang="en-US" b="1" dirty="0"/>
              <a:t>Phase 6 (Month 12): Finalization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83842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C2A9-CF77-EFCB-0A46-47EE8361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C1E431-46C7-0069-F49D-3413A9269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915341"/>
              </p:ext>
            </p:extLst>
          </p:nvPr>
        </p:nvGraphicFramePr>
        <p:xfrm>
          <a:off x="1425178" y="2017358"/>
          <a:ext cx="9401970" cy="3805312"/>
        </p:xfrm>
        <a:graphic>
          <a:graphicData uri="http://schemas.openxmlformats.org/drawingml/2006/table">
            <a:tbl>
              <a:tblPr/>
              <a:tblGrid>
                <a:gridCol w="4700985">
                  <a:extLst>
                    <a:ext uri="{9D8B030D-6E8A-4147-A177-3AD203B41FA5}">
                      <a16:colId xmlns:a16="http://schemas.microsoft.com/office/drawing/2014/main" val="3876986977"/>
                    </a:ext>
                  </a:extLst>
                </a:gridCol>
                <a:gridCol w="4700985">
                  <a:extLst>
                    <a:ext uri="{9D8B030D-6E8A-4147-A177-3AD203B41FA5}">
                      <a16:colId xmlns:a16="http://schemas.microsoft.com/office/drawing/2014/main" val="2632597964"/>
                    </a:ext>
                  </a:extLst>
                </a:gridCol>
              </a:tblGrid>
              <a:tr h="341890">
                <a:tc>
                  <a:txBody>
                    <a:bodyPr/>
                    <a:lstStyle/>
                    <a:p>
                      <a:r>
                        <a:rPr lang="en-US" sz="1800" b="1" dirty="0"/>
                        <a:t>Component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Estimated Cost (LKR)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922157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/>
                        <a:t>Raspberry Pi 5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25,000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36992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/>
                        <a:t>MAX30102 Sensor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2,500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031947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/>
                        <a:t>GSR Sensor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1,500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90830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/>
                        <a:t>DS18B20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800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207956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/>
                        <a:t>Light Sensor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500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17517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/>
                        <a:t>Relay Module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1,000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91809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/>
                        <a:t>Fan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3,000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020685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/>
                        <a:t>LED Light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1,000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133403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/>
                        <a:t>DFPlayer + Speaker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2,000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586686"/>
                  </a:ext>
                </a:extLst>
              </a:tr>
              <a:tr h="34189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 err="1"/>
                        <a:t>Misc</a:t>
                      </a:r>
                      <a:r>
                        <a:rPr lang="en-US" sz="1700" dirty="0"/>
                        <a:t> (wires, board)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2,000</a:t>
                      </a:r>
                    </a:p>
                  </a:txBody>
                  <a:tcPr marL="85472" marR="85472" marT="42736" marB="42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053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E9F141-8AC4-1C94-413F-37D3B8A32CFB}"/>
              </a:ext>
            </a:extLst>
          </p:cNvPr>
          <p:cNvSpPr txBox="1"/>
          <p:nvPr/>
        </p:nvSpPr>
        <p:spPr>
          <a:xfrm>
            <a:off x="1676400" y="5852160"/>
            <a:ext cx="546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Estimated Cost:                                        39,000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096D10-DD9D-171B-B142-E6F4559313DC}"/>
              </a:ext>
            </a:extLst>
          </p:cNvPr>
          <p:cNvCxnSpPr/>
          <p:nvPr/>
        </p:nvCxnSpPr>
        <p:spPr>
          <a:xfrm>
            <a:off x="6064196" y="5822670"/>
            <a:ext cx="813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24B231-FAD4-1EDA-E8CA-553B9192CAA7}"/>
              </a:ext>
            </a:extLst>
          </p:cNvPr>
          <p:cNvCxnSpPr/>
          <p:nvPr/>
        </p:nvCxnSpPr>
        <p:spPr>
          <a:xfrm>
            <a:off x="6064196" y="6221492"/>
            <a:ext cx="813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E73E5D-684C-4DFA-424C-F5B0344BD7A8}"/>
              </a:ext>
            </a:extLst>
          </p:cNvPr>
          <p:cNvCxnSpPr/>
          <p:nvPr/>
        </p:nvCxnSpPr>
        <p:spPr>
          <a:xfrm>
            <a:off x="6064196" y="6261251"/>
            <a:ext cx="813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91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DDBC-D2B4-3B4F-2994-639577F39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E58B-6D08-E778-4072-AE6400979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642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stress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Automatic fan and light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Calming audio activation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Improved user comfort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64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65B4-37A2-B8F0-55FE-A57D5050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EC0BF-817A-D61A-3C8A-659B4F67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Integration of physiological sensing + environment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Fully automated stress response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decision-making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Multi-output smart system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8594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2986-A327-52DC-BDEE-4291D6C2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7AEA-4B5A-8251-5FE5-E8E6387EA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Mobile app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Cloud data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AI-based stress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Wearable compact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Personalized settings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9797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A7B7-1A9B-8854-760B-7473A195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0BF4-BA17-602B-EE7B-E30A05B41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ZENMORA is an intelligent system that combines stress detection and environmental automation to improve user comfort and relaxation.</a:t>
            </a:r>
          </a:p>
          <a:p>
            <a:r>
              <a:rPr lang="en-US" sz="2000" dirty="0"/>
              <a:t>By integrating physiological sensors and smart control systems, the project demonstrates a practical solution for stress management and smart living environments.</a:t>
            </a:r>
          </a:p>
          <a:p>
            <a:r>
              <a:rPr lang="en-US" sz="2000" dirty="0"/>
              <a:t>This system highlights the potential of embedded systems and automation in improving human well-being.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721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3576-D0F1-E20D-0069-E59315E1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769112"/>
            <a:ext cx="10058400" cy="1609344"/>
          </a:xfrm>
        </p:spPr>
        <p:txBody>
          <a:bodyPr/>
          <a:lstStyle/>
          <a:p>
            <a:r>
              <a:rPr lang="en-US" dirty="0"/>
              <a:t>References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34B4-0AC6-5635-CB6C-557C4BCB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Raspberry Pi Foundation – </a:t>
            </a:r>
            <a:r>
              <a:rPr lang="en-US" dirty="0">
                <a:hlinkClick r:id="rId2"/>
              </a:rPr>
              <a:t>https://www.raspberrypi.org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MAX30102 Datasheet – Maxim Integrated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DS18B20 Datasheet – Maxim Integrated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GSR Sensor – </a:t>
            </a:r>
            <a:r>
              <a:rPr lang="en-US" dirty="0" err="1"/>
              <a:t>DFRobot</a:t>
            </a:r>
            <a:r>
              <a:rPr lang="en-US" dirty="0"/>
              <a:t> Documentation (</a:t>
            </a:r>
            <a:r>
              <a:rPr lang="en-US" dirty="0">
                <a:hlinkClick r:id="rId3"/>
              </a:rPr>
              <a:t>https://www.dfrobot.com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IEEE Papers on Stress Detection – IEEE Xplore (https://ieeexplore.ieee.org)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IoT Systems – International Journal of Engineering Research 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0841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C542DB-7260-4271-F53B-1D02F327F674}"/>
              </a:ext>
            </a:extLst>
          </p:cNvPr>
          <p:cNvSpPr txBox="1"/>
          <p:nvPr/>
        </p:nvSpPr>
        <p:spPr>
          <a:xfrm>
            <a:off x="3147060" y="2613392"/>
            <a:ext cx="5897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66589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684</TotalTime>
  <Words>905</Words>
  <Application>Microsoft Office PowerPoint</Application>
  <PresentationFormat>Widescreen</PresentationFormat>
  <Paragraphs>201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Century</vt:lpstr>
      <vt:lpstr>Rockwell</vt:lpstr>
      <vt:lpstr>Rockwell Condensed</vt:lpstr>
      <vt:lpstr>Rockwell Extra Bold</vt:lpstr>
      <vt:lpstr>Wingdings</vt:lpstr>
      <vt:lpstr>Wood Type</vt:lpstr>
      <vt:lpstr>    ZENMORA</vt:lpstr>
      <vt:lpstr>Group Members</vt:lpstr>
      <vt:lpstr>Introduction</vt:lpstr>
      <vt:lpstr>Problem In Brief</vt:lpstr>
      <vt:lpstr>Project Objective</vt:lpstr>
      <vt:lpstr>Proposed Solution</vt:lpstr>
      <vt:lpstr>Proposed Solution</vt:lpstr>
      <vt:lpstr>PowerPoint Presentation</vt:lpstr>
      <vt:lpstr>System Overview</vt:lpstr>
      <vt:lpstr>PowerPoint Presentation</vt:lpstr>
      <vt:lpstr>Work Distribution</vt:lpstr>
      <vt:lpstr>PowerPoint Presentation</vt:lpstr>
      <vt:lpstr>Project Timeline</vt:lpstr>
      <vt:lpstr>Estimated Budget</vt:lpstr>
      <vt:lpstr>Expected Results</vt:lpstr>
      <vt:lpstr>Innovation</vt:lpstr>
      <vt:lpstr>Future Improvements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Vihara Dewminee</dc:creator>
  <cp:lastModifiedBy>Imesh Thiwanka</cp:lastModifiedBy>
  <cp:revision>8</cp:revision>
  <dcterms:created xsi:type="dcterms:W3CDTF">2026-03-23T08:25:27Z</dcterms:created>
  <dcterms:modified xsi:type="dcterms:W3CDTF">2026-03-27T06:17:00Z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